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5143500" cx="9144000"/>
  <p:notesSz cx="6858000" cy="9144000"/>
  <p:embeddedFontLst>
    <p:embeddedFont>
      <p:font typeface="Roboto"/>
      <p:regular r:id="rId38"/>
      <p:bold r:id="rId39"/>
      <p:italic r:id="rId40"/>
      <p:boldItalic r:id="rId41"/>
    </p:embeddedFont>
    <p:embeddedFont>
      <p:font typeface="Merriweather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5A067C-5438-40AD-ACCC-5EC9F96BC23F}">
  <a:tblStyle styleId="{275A067C-5438-40AD-ACCC-5EC9F96BC23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44E58E7-482B-4E44-99E1-BF364A4B679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4.xml"/><Relationship Id="rId42" Type="http://schemas.openxmlformats.org/officeDocument/2006/relationships/font" Target="fonts/Merriweather-regular.fnt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6.xml"/><Relationship Id="rId44" Type="http://schemas.openxmlformats.org/officeDocument/2006/relationships/font" Target="fonts/Merriweather-italic.fntdata"/><Relationship Id="rId21" Type="http://schemas.openxmlformats.org/officeDocument/2006/relationships/slide" Target="slides/slide15.xml"/><Relationship Id="rId43" Type="http://schemas.openxmlformats.org/officeDocument/2006/relationships/font" Target="fonts/Merriweather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Merriweather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Roboto-bold.fntdata"/><Relationship Id="rId16" Type="http://schemas.openxmlformats.org/officeDocument/2006/relationships/slide" Target="slides/slide10.xml"/><Relationship Id="rId38" Type="http://schemas.openxmlformats.org/officeDocument/2006/relationships/font" Target="fonts/Robo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70d0a6e7e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70d0a6e7e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70d0a6e7e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70d0a6e7e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70d0a6e7e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70d0a6e7e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70d0a6e7e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70d0a6e7e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70d0a6e7e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70d0a6e7e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70d0a6e7e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70d0a6e7e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70d0a6e7e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70d0a6e7e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70d0a6e7e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70d0a6e7e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70d0a6e7e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70d0a6e7e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70d0a6e7e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70d0a6e7e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70d0a6e7e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70d0a6e7e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70d0a6e7e_0_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70d0a6e7e_0_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70d0a6e7e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a70d0a6e7e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70d0a6e7e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70d0a6e7e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70d0a6e7e_0_1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70d0a6e7e_0_1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70d0a6e7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70d0a6e7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70d0a6e7e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70d0a6e7e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70d0a6e7e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70d0a6e7e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70d0a6e7e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a70d0a6e7e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70d0a6e7e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a70d0a6e7e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187c822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187c822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187c82260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187c8226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70d0a6e7e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70d0a6e7e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70d0a6e7e_0_18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70d0a6e7e_0_1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70d0a6e7e_0_1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70d0a6e7e_0_1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70d0a6e7e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70d0a6e7e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70d0a6e7e_0_1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70d0a6e7e_0_1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70d0a6e7e_0_19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70d0a6e7e_0_19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70d0a6e7e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70d0a6e7e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b17a97a9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b17a97a9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8" y="145375"/>
            <a:ext cx="85206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đồ án học phần kiểm thử phần mềm</a:t>
            </a:r>
            <a:endParaRPr/>
          </a:p>
        </p:txBody>
      </p:sp>
      <p:sp>
        <p:nvSpPr>
          <p:cNvPr id="65" name="Google Shape;65;p13"/>
          <p:cNvSpPr txBox="1"/>
          <p:nvPr>
            <p:ph idx="1" type="subTitle"/>
          </p:nvPr>
        </p:nvSpPr>
        <p:spPr>
          <a:xfrm>
            <a:off x="311700" y="1562900"/>
            <a:ext cx="8151600" cy="19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9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Kiểm thử phần mềm thương mại điện tử Zstyle</a:t>
            </a:r>
            <a:endParaRPr sz="33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5498400" y="3170925"/>
            <a:ext cx="3333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Nhóm 4 </a:t>
            </a:r>
            <a:endParaRPr sz="2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Trương Văn Hậu</a:t>
            </a:r>
            <a:endParaRPr sz="2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Nguyễn Quốc Hùng</a:t>
            </a:r>
            <a:br>
              <a:rPr lang="vi" sz="2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vi" sz="2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Lý Phúc Linh</a:t>
            </a:r>
            <a:endParaRPr sz="2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vi" sz="200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Nguyễn Công Tuyển</a:t>
            </a:r>
            <a:endParaRPr sz="200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Tổng quan đề tài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29187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Tổng quan đề tài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Thương mại điện tử phát triển mạnh cùng Internet và CNTT</a:t>
            </a:r>
            <a:b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15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Website bán hàng hiện nay:</a:t>
            </a:r>
            <a:b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15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erriweather"/>
              <a:buChar char="●"/>
            </a:pPr>
            <a: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Không chỉ hiển thị sản phẩm</a:t>
            </a:r>
            <a:b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15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erriweather"/>
              <a:buChar char="●"/>
            </a:pPr>
            <a: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Tích hợp nhiều nghiệp vụ phức tạp</a:t>
            </a:r>
            <a:b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15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Web ZStyle được xây dựng nhằm:</a:t>
            </a:r>
            <a:b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15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erriweather"/>
              <a:buChar char="●"/>
            </a:pPr>
            <a: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Phục vụ kinh doanh thời trang trực tuyến</a:t>
            </a:r>
            <a:b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endParaRPr sz="15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erriweather"/>
              <a:buChar char="●"/>
            </a:pPr>
            <a:r>
              <a:rPr lang="vi" sz="15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Đảm bảo các chức năng hoạt động ổn định và chính xác thông qua kiểm thử</a:t>
            </a:r>
            <a:endParaRPr sz="15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Khó khăn khi tiếp cận đề tài này  và </a:t>
            </a:r>
            <a:r>
              <a:rPr lang="vi"/>
              <a:t>đóng </a:t>
            </a:r>
            <a:r>
              <a:rPr lang="vi"/>
              <a:t>góp đề tài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4644675" y="133825"/>
            <a:ext cx="42558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Phải đảm bảo:</a:t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erriweather"/>
              <a:buChar char="●"/>
            </a:pPr>
            <a:r>
              <a:rPr lang="vi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Tính chính xác của nghiệp vụ</a:t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Kiểm thử cần bao phủ:</a:t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erriweather"/>
              <a:buChar char="●"/>
            </a:pPr>
            <a:r>
              <a:rPr lang="vi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Chức năng người dùng</a:t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erriweather"/>
              <a:buChar char="●"/>
            </a:pPr>
            <a:r>
              <a:rPr lang="vi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Chức năng quản trị hệ thống</a:t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Áp dụng:</a:t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Merriweather"/>
              <a:buChar char="●"/>
            </a:pPr>
            <a:r>
              <a:rPr lang="vi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Kiểm thử chuẩn phương pháp </a:t>
            </a:r>
            <a:r>
              <a:rPr b="1" lang="vi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Agile</a:t>
            </a:r>
            <a:r>
              <a:rPr lang="vi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và </a:t>
            </a:r>
            <a:r>
              <a:rPr b="1" lang="vi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CI/CD</a:t>
            </a:r>
            <a:endParaRPr b="1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84" name="Google Shape;84;p16"/>
          <p:cNvCxnSpPr/>
          <p:nvPr/>
        </p:nvCxnSpPr>
        <p:spPr>
          <a:xfrm>
            <a:off x="4644675" y="2897500"/>
            <a:ext cx="4166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6"/>
          <p:cNvSpPr txBox="1"/>
          <p:nvPr/>
        </p:nvSpPr>
        <p:spPr>
          <a:xfrm>
            <a:off x="4644675" y="3078025"/>
            <a:ext cx="4166400" cy="15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300">
                <a:latin typeface="Merriweather"/>
                <a:ea typeface="Merriweather"/>
                <a:cs typeface="Merriweather"/>
                <a:sym typeface="Merriweather"/>
              </a:rPr>
              <a:t>Đề tài giúp: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Font typeface="Merriweather"/>
              <a:buChar char="●"/>
            </a:pPr>
            <a:r>
              <a:rPr lang="vi" sz="1300">
                <a:latin typeface="Merriweather"/>
                <a:ea typeface="Merriweather"/>
                <a:cs typeface="Merriweather"/>
                <a:sym typeface="Merriweather"/>
              </a:rPr>
              <a:t>Hiểu rõ vai trò của kiểm thử trong dự án web </a:t>
            </a: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Merriweather"/>
              <a:buChar char="●"/>
            </a:pPr>
            <a:r>
              <a:rPr lang="vi" sz="1300">
                <a:latin typeface="Merriweather"/>
                <a:ea typeface="Merriweather"/>
                <a:cs typeface="Merriweather"/>
                <a:sym typeface="Merriweather"/>
              </a:rPr>
              <a:t>Làm nền tảng cho việc tiếp cận kiểm thử phần mềm thực tế</a:t>
            </a:r>
            <a:br>
              <a:rPr lang="vi" sz="1300">
                <a:latin typeface="Merriweather"/>
                <a:ea typeface="Merriweather"/>
                <a:cs typeface="Merriweather"/>
                <a:sym typeface="Merriweather"/>
              </a:rPr>
            </a:br>
            <a:endParaRPr sz="13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Kế hoạch kiểm thử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Kế hoạch kiểm thử</a:t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4572000" y="522450"/>
            <a:ext cx="43791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vi" sz="15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Đối tượng kiểm thử: Website thương mại điện tử ZStyle</a:t>
            </a:r>
            <a:endParaRPr sz="150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vi" sz="15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Nguồn gốc: </a:t>
            </a:r>
            <a:r>
              <a:rPr lang="vi" sz="1507">
                <a:solidFill>
                  <a:srgbClr val="000000"/>
                </a:solidFill>
                <a:highlight>
                  <a:srgbClr val="FFF2CC"/>
                </a:highlight>
                <a:latin typeface="Merriweather"/>
                <a:ea typeface="Merriweather"/>
                <a:cs typeface="Merriweather"/>
                <a:sym typeface="Merriweather"/>
              </a:rPr>
              <a:t>github.com/TranHuuDat2004</a:t>
            </a:r>
            <a:endParaRPr sz="1507">
              <a:solidFill>
                <a:srgbClr val="000000"/>
              </a:solidFill>
              <a:highlight>
                <a:srgbClr val="FFF2CC"/>
              </a:highlight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vi" sz="15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Mục tiêu: Đánh giá chất lượng hoàn thiện của phần mềm</a:t>
            </a:r>
            <a:endParaRPr sz="150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vi" sz="15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Trọng tâm:</a:t>
            </a:r>
            <a:endParaRPr sz="150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4326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8"/>
              <a:buFont typeface="Merriweather"/>
              <a:buChar char="●"/>
            </a:pPr>
            <a:r>
              <a:rPr lang="vi" sz="15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Độ hoàn thiện chức năng, nghiệp vụ</a:t>
            </a:r>
            <a:endParaRPr sz="150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432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8"/>
              <a:buFont typeface="Merriweather"/>
              <a:buChar char="●"/>
            </a:pPr>
            <a:r>
              <a:rPr lang="vi" sz="15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Workflow</a:t>
            </a:r>
            <a:endParaRPr sz="150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4326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8"/>
              <a:buFont typeface="Merriweather"/>
              <a:buChar char="●"/>
            </a:pPr>
            <a:r>
              <a:rPr lang="vi" sz="1507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Tính toàn vẹn dữ liệu</a:t>
            </a:r>
            <a:endParaRPr sz="150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07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Kế hoạch kiểm thử</a:t>
            </a:r>
            <a:endParaRPr/>
          </a:p>
        </p:txBody>
      </p:sp>
      <p:sp>
        <p:nvSpPr>
          <p:cNvPr id="102" name="Google Shape;102;p19"/>
          <p:cNvSpPr txBox="1"/>
          <p:nvPr/>
        </p:nvSpPr>
        <p:spPr>
          <a:xfrm>
            <a:off x="311700" y="1515350"/>
            <a:ext cx="85206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Môi trường: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Yêu cầu phần cứng </a:t>
            </a: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tối thiểu</a:t>
            </a: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: </a:t>
            </a: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Máy tính cá nhân, Window 10/11, Ram 8gb+ , Storage 80gb+ 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Yêu cầu phần mềm tối thiểu: PHP 7.4+, MySQL 8.0+, Docker, Chrome/Opera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Lộ trình kiểm thử: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Phân tích → Thiết kế Test → Test Case → Thực hiện kiểm thử → Báo cáo kết quả</a:t>
            </a:r>
            <a:br>
              <a:rPr lang="vi">
                <a:latin typeface="Merriweather"/>
                <a:ea typeface="Merriweather"/>
                <a:cs typeface="Merriweather"/>
                <a:sym typeface="Merriweather"/>
              </a:rPr>
            </a:b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Kế hoạch kiểm thử:</a:t>
            </a:r>
            <a:r>
              <a:rPr lang="vi"/>
              <a:t> kiểm thử chấp nhận</a:t>
            </a:r>
            <a:endParaRPr/>
          </a:p>
        </p:txBody>
      </p:sp>
      <p:sp>
        <p:nvSpPr>
          <p:cNvPr id="108" name="Google Shape;108;p20"/>
          <p:cNvSpPr txBox="1"/>
          <p:nvPr/>
        </p:nvSpPr>
        <p:spPr>
          <a:xfrm>
            <a:off x="226200" y="1486650"/>
            <a:ext cx="86916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Y</a:t>
            </a: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êu cầu được xác định từ: </a:t>
            </a: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Nghiệp vụ mua hàng từ khách hàng và nghiệp vụ quản trị từ hệ thống.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Kiểm thử chấp nhận </a:t>
            </a: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nhằm</a:t>
            </a: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: Xác nhận hệ thống đáp ứng yêu cầu nghiệp vụ cốt lõi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Điều kiện chấp nhận:</a:t>
            </a: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Merriweather"/>
              <a:buChar char="●"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Không tồn tại lỗi </a:t>
            </a:r>
            <a:r>
              <a:rPr lang="vi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Critical</a:t>
            </a:r>
            <a:endParaRPr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erriweather"/>
              <a:buChar char="●"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Workflow </a:t>
            </a:r>
            <a:r>
              <a:rPr lang="vi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xuyên suốt và liên tục</a:t>
            </a:r>
            <a:endParaRPr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Merriweather"/>
              <a:buChar char="●"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Dữ liệu đảm bảo </a:t>
            </a:r>
            <a:r>
              <a:rPr lang="vi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tính nhất quán</a:t>
            </a:r>
            <a:endParaRPr>
              <a:solidFill>
                <a:srgbClr val="FF0000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vi" sz="2820"/>
              <a:t>Kế hoạch kiểm thử: thiết kế hệ thống kiểm thử</a:t>
            </a:r>
            <a:endParaRPr sz="28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  <p:sp>
        <p:nvSpPr>
          <p:cNvPr id="114" name="Google Shape;114;p21"/>
          <p:cNvSpPr txBox="1"/>
          <p:nvPr/>
        </p:nvSpPr>
        <p:spPr>
          <a:xfrm>
            <a:off x="472400" y="1656800"/>
            <a:ext cx="35898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Kiểm thử theo Modules: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Authentication module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Product &amp; Categories module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Shopping cart module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Checkout &amp; Orders module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5081875" y="1656800"/>
            <a:ext cx="30000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Kiểm thử theo Workflow: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Product Flow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Cart &amp; </a:t>
            </a: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Add to Cart</a:t>
            </a: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 Flow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Checkout Flow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erriweather"/>
              <a:buChar char="●"/>
            </a:pPr>
            <a:r>
              <a:rPr lang="vi" sz="1600">
                <a:latin typeface="Merriweather"/>
                <a:ea typeface="Merriweather"/>
                <a:cs typeface="Merriweather"/>
                <a:sym typeface="Merriweather"/>
              </a:rPr>
              <a:t>Login Flow</a:t>
            </a:r>
            <a:endParaRPr sz="16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116" name="Google Shape;116;p21"/>
          <p:cNvCxnSpPr/>
          <p:nvPr/>
        </p:nvCxnSpPr>
        <p:spPr>
          <a:xfrm>
            <a:off x="4572025" y="1512500"/>
            <a:ext cx="0" cy="243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/>
        </p:nvSpPr>
        <p:spPr>
          <a:xfrm>
            <a:off x="383575" y="1385450"/>
            <a:ext cx="83769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Một vài Workflow được kiểm thử: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Workflow_Product: WF_1 &lt;&lt;Load thành công danh sách sản phẩm&gt;&gt; 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Workflow_Checkout: WF_1 &lt;&lt;Thanh toán thành công&gt;&gt; 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Một vài Data Model được kiểm thử: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cart – order – user – product: &lt;&lt;DB_INT_01 →DB_INT_04&gt;&gt; 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Một vài UI/UX được kiểm thử: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Hiển thị đúng trạng thái hệ thống và trang tương ứng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Thao tác người dùng ổn định, chuyển trang mượt, không đơ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22" name="Google Shape;122;p22"/>
          <p:cNvSpPr txBox="1"/>
          <p:nvPr>
            <p:ph type="title"/>
          </p:nvPr>
        </p:nvSpPr>
        <p:spPr>
          <a:xfrm>
            <a:off x="311725" y="2561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vi" sz="2820"/>
              <a:t>Kế hoạch kiểm thử: </a:t>
            </a:r>
            <a:r>
              <a:rPr lang="vi" sz="2820"/>
              <a:t>kiểm thử theo kiến trúc</a:t>
            </a:r>
            <a:r>
              <a:rPr lang="vi" sz="2820"/>
              <a:t> của hệ thống </a:t>
            </a:r>
            <a:endParaRPr sz="28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8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Kế hoạch kiểm thử: k</a:t>
            </a:r>
            <a:r>
              <a:rPr lang="vi"/>
              <a:t>iểm thử phi chức năng </a:t>
            </a:r>
            <a:endParaRPr/>
          </a:p>
        </p:txBody>
      </p:sp>
      <p:sp>
        <p:nvSpPr>
          <p:cNvPr id="128" name="Google Shape;128;p23"/>
          <p:cNvSpPr txBox="1"/>
          <p:nvPr/>
        </p:nvSpPr>
        <p:spPr>
          <a:xfrm>
            <a:off x="311725" y="1717375"/>
            <a:ext cx="6811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Một số phi chức năng như bảo mật được kiểm thử</a:t>
            </a: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: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SQL injection: &lt;&lt;</a:t>
            </a: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CUST_SRCH_01, CUST_SRCH_02, SEC_SRCH_01&gt;&gt; 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Chèn mã độc </a:t>
            </a: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XSS: &lt;&lt;</a:t>
            </a: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SEC_SRCH_02&gt;&gt; 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Phân quyền IDOR: &lt;&lt;SEC_ORD_01&gt;&gt; 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Mục tiêu: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N</a:t>
            </a: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găn truy cập trái phép vào cơ sở dữ liệu tập trung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Bảo vệ dữ liệu nghiệp vụ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Kế hoạch kiểm thử: k</a:t>
            </a:r>
            <a:r>
              <a:rPr lang="vi"/>
              <a:t>iểm thử kết nối và dữ liệu</a:t>
            </a:r>
            <a:endParaRPr/>
          </a:p>
        </p:txBody>
      </p:sp>
      <p:sp>
        <p:nvSpPr>
          <p:cNvPr id="134" name="Google Shape;134;p24"/>
          <p:cNvSpPr txBox="1"/>
          <p:nvPr/>
        </p:nvSpPr>
        <p:spPr>
          <a:xfrm>
            <a:off x="311725" y="1471150"/>
            <a:ext cx="8520600" cy="26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Kiểm thử </a:t>
            </a: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API: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ZStyle </a:t>
            </a:r>
            <a:r>
              <a:rPr lang="vi" sz="150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k</a:t>
            </a:r>
            <a:r>
              <a:rPr lang="vi" sz="150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hông có API độc lập</a:t>
            </a: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 nên </a:t>
            </a:r>
            <a:r>
              <a:rPr lang="vi" sz="150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không kiểm thử API</a:t>
            </a: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Một số dữ liệu được kiểm thử: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Đồng bộ cart – order – product – cart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Trạng thái đơn hàng nhất quán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erriweather"/>
              <a:buChar char="●"/>
            </a:pPr>
            <a:r>
              <a:rPr lang="vi" sz="1500">
                <a:latin typeface="Merriweather"/>
                <a:ea typeface="Merriweather"/>
                <a:cs typeface="Merriweather"/>
                <a:sym typeface="Merriweather"/>
              </a:rPr>
              <a:t>Không duplicate record v.v..</a:t>
            </a:r>
            <a:endParaRPr sz="15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Các phương luận trong kiểm thử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4644675" y="270000"/>
            <a:ext cx="4166400" cy="45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Gồm: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Authentication module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 &amp; Categories module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Shopping cart module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Checkout &amp; Orders module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Kiểm thử các thao tác: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Đăng nhập, đăng ký, đăng xuất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Quản lý giỏ hàng, đặt hàng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Quản lý Sản phẩm, đơn hàng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Kỹ thuật sử dụng: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Test case</a:t>
            </a: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theo kịch bản nghiệp vụ và so sánh Expected Output và Result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5" name="Google Shape;145;p26"/>
          <p:cNvSpPr txBox="1"/>
          <p:nvPr>
            <p:ph type="title"/>
          </p:nvPr>
        </p:nvSpPr>
        <p:spPr>
          <a:xfrm>
            <a:off x="350525" y="314750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Kiểm thử hộp đen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Kiểm thử hộp đen</a:t>
            </a:r>
            <a:endParaRPr/>
          </a:p>
        </p:txBody>
      </p:sp>
      <p:graphicFrame>
        <p:nvGraphicFramePr>
          <p:cNvPr id="151" name="Google Shape;151;p27"/>
          <p:cNvGraphicFramePr/>
          <p:nvPr/>
        </p:nvGraphicFramePr>
        <p:xfrm>
          <a:off x="350850" y="147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{275A067C-5438-40AD-ACCC-5EC9F96BC23F}</a:tableStyleId>
              </a:tblPr>
              <a:tblGrid>
                <a:gridCol w="2970275"/>
                <a:gridCol w="1886000"/>
                <a:gridCol w="3625200"/>
              </a:tblGrid>
              <a:tr h="314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Tên Module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Tổng số Test Case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Phạm vi kiểm thử 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285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Module 1: Authentication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14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Register 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Login 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Logout &amp; Session 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Authorization 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Module 2: Sản Phẩm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16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Hiển thị danh sách sản phẩm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Xem chi tiết sản phẩm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Duyệt sản phẩm theo danh mục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Tìm kiếm sản phẩm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Lọc sản phẩm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Kiểm thử hộp đen</a:t>
            </a:r>
            <a:endParaRPr/>
          </a:p>
        </p:txBody>
      </p:sp>
      <p:graphicFrame>
        <p:nvGraphicFramePr>
          <p:cNvPr id="157" name="Google Shape;157;p28"/>
          <p:cNvGraphicFramePr/>
          <p:nvPr/>
        </p:nvGraphicFramePr>
        <p:xfrm>
          <a:off x="350850" y="147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{275A067C-5438-40AD-ACCC-5EC9F96BC23F}</a:tableStyleId>
              </a:tblPr>
              <a:tblGrid>
                <a:gridCol w="2970275"/>
                <a:gridCol w="1886000"/>
                <a:gridCol w="3625200"/>
              </a:tblGrid>
              <a:tr h="314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Tên Module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Tổng số Test Case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Phạm vi kiểm thử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2855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Module 3: Giỏ Hàng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8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Thêm vào giỏ hàng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Cập nhật giỏ hàng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Xóa sản phẩm khỏi giỏ hàng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Điều hướng &amp; trạng thái giỏ hàng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09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Module 4: Checkout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</a:t>
                      </a:r>
                      <a:endParaRPr b="1"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Truy cập &amp; hiển thị Checkout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Đặt hàng &amp; tạo đơn hàng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900">
                          <a:solidFill>
                            <a:srgbClr val="1F1F1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Xem đơn hàng</a:t>
                      </a:r>
                      <a:endParaRPr sz="900">
                        <a:solidFill>
                          <a:srgbClr val="1F1F1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76200" marB="76200" marR="114300" marL="114300">
                    <a:lnL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Kiểm thử hộp trắng 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4644675" y="28927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Kiểm tra luồng điều kiện, xử lý dữ liệu, nhánh rẽ của mã nguồn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Áp dụng cho: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Backend PHP, các hàm nghiệp vụ trong service/controller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Thực hiện thông qua </a:t>
            </a:r>
            <a:r>
              <a:rPr lang="vi" sz="140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Kiểm thử tự động</a:t>
            </a: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tích hợp </a:t>
            </a:r>
            <a:r>
              <a:rPr lang="vi" sz="1400">
                <a:solidFill>
                  <a:srgbClr val="FF0000"/>
                </a:solidFill>
                <a:latin typeface="Merriweather"/>
                <a:ea typeface="Merriweather"/>
                <a:cs typeface="Merriweather"/>
                <a:sym typeface="Merriweather"/>
              </a:rPr>
              <a:t>Kiểm thử đơn vị</a:t>
            </a: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 trong CI/CD Github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7300" y="3182075"/>
            <a:ext cx="2721848" cy="1828876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/>
          <p:nvPr/>
        </p:nvSpPr>
        <p:spPr>
          <a:xfrm>
            <a:off x="4572000" y="1109475"/>
            <a:ext cx="4191600" cy="33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Trong phạm vi ZStyle, ở kiểm thử tự động </a:t>
            </a: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Automation test </a:t>
            </a: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được áp dụng ở mức kiểm thử đơn vị Unit Testing, trong đó:</a:t>
            </a:r>
            <a:br>
              <a:rPr lang="vi">
                <a:latin typeface="Merriweather"/>
                <a:ea typeface="Merriweather"/>
                <a:cs typeface="Merriweather"/>
                <a:sym typeface="Merriweather"/>
              </a:rPr>
            </a:b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Unit test được thực thi tự động thông qua </a:t>
            </a:r>
            <a:r>
              <a:rPr lang="vi">
                <a:highlight>
                  <a:srgbClr val="CCFFCC"/>
                </a:highlight>
                <a:latin typeface="Merriweather"/>
                <a:ea typeface="Merriweather"/>
                <a:cs typeface="Merriweather"/>
                <a:sym typeface="Merriweather"/>
              </a:rPr>
              <a:t>CI/CD GitHub</a:t>
            </a:r>
            <a:br>
              <a:rPr lang="vi">
                <a:latin typeface="Merriweather"/>
                <a:ea typeface="Merriweather"/>
                <a:cs typeface="Merriweather"/>
                <a:sym typeface="Merriweather"/>
              </a:rPr>
            </a:br>
            <a:endParaRPr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erriweather"/>
              <a:buChar char="●"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Các kiểm thử còn lại </a:t>
            </a:r>
            <a:r>
              <a:rPr lang="vi">
                <a:highlight>
                  <a:srgbClr val="CCFFCC"/>
                </a:highlight>
                <a:latin typeface="Merriweather"/>
                <a:ea typeface="Merriweather"/>
                <a:cs typeface="Merriweather"/>
                <a:sym typeface="Merriweather"/>
              </a:rPr>
              <a:t>(Workflow, Security, v….)</a:t>
            </a: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 thì được thực hiện thủ công</a:t>
            </a:r>
            <a:br>
              <a:rPr lang="vi">
                <a:latin typeface="Merriweather"/>
                <a:ea typeface="Merriweather"/>
                <a:cs typeface="Merriweather"/>
                <a:sym typeface="Merriweather"/>
              </a:rPr>
            </a:br>
            <a:endParaRPr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70" name="Google Shape;170;p30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Kiểm thử tự động và kiểm thử đơn vị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Kiểm thử nghiệp vụ theo Workflow</a:t>
            </a:r>
            <a:endParaRPr/>
          </a:p>
        </p:txBody>
      </p:sp>
      <p:sp>
        <p:nvSpPr>
          <p:cNvPr id="176" name="Google Shape;176;p31"/>
          <p:cNvSpPr txBox="1"/>
          <p:nvPr>
            <p:ph idx="1" type="body"/>
          </p:nvPr>
        </p:nvSpPr>
        <p:spPr>
          <a:xfrm>
            <a:off x="4637450" y="739050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Mục tiêu: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Đảm bảo hệ thống đáp ứng chuẩn nghiệp vụ chuyên nghiệp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Kiểm tra luồng xử lý xuyên suốt và liên tục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Những Workflow chính được kiểm thử: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Product Flow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Cart &amp; Add to Cart Flow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Checkout Flow</a:t>
            </a:r>
            <a:endParaRPr sz="1400">
              <a:solidFill>
                <a:srgbClr val="00000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erriweather"/>
              <a:buChar char="●"/>
            </a:pPr>
            <a:r>
              <a:rPr lang="vi" sz="1400">
                <a:solidFill>
                  <a:srgbClr val="000000"/>
                </a:solidFill>
                <a:latin typeface="Merriweather"/>
                <a:ea typeface="Merriweather"/>
                <a:cs typeface="Merriweather"/>
                <a:sym typeface="Merriweather"/>
              </a:rPr>
              <a:t>Login Flow</a:t>
            </a:r>
            <a:endParaRPr sz="1400"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Kiểm thử nghiệp vụ theo Workflow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25" y="1845275"/>
            <a:ext cx="4483750" cy="262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7425" y="1883650"/>
            <a:ext cx="44837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2"/>
          <p:cNvSpPr txBox="1"/>
          <p:nvPr/>
        </p:nvSpPr>
        <p:spPr>
          <a:xfrm>
            <a:off x="792400" y="1378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Product Flow</a:t>
            </a:r>
            <a:endParaRPr/>
          </a:p>
        </p:txBody>
      </p:sp>
      <p:sp>
        <p:nvSpPr>
          <p:cNvPr id="185" name="Google Shape;185;p32"/>
          <p:cNvSpPr txBox="1"/>
          <p:nvPr/>
        </p:nvSpPr>
        <p:spPr>
          <a:xfrm>
            <a:off x="5349300" y="1378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Cart &amp; Add to Cart Flow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Kiểm thử nghiệp vụ theo Workflow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3"/>
          <p:cNvSpPr txBox="1"/>
          <p:nvPr/>
        </p:nvSpPr>
        <p:spPr>
          <a:xfrm>
            <a:off x="792400" y="1378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Checkout</a:t>
            </a:r>
            <a:endParaRPr/>
          </a:p>
        </p:txBody>
      </p:sp>
      <p:sp>
        <p:nvSpPr>
          <p:cNvPr id="192" name="Google Shape;192;p33"/>
          <p:cNvSpPr txBox="1"/>
          <p:nvPr/>
        </p:nvSpPr>
        <p:spPr>
          <a:xfrm>
            <a:off x="5349300" y="13782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vi">
                <a:latin typeface="Merriweather"/>
                <a:ea typeface="Merriweather"/>
                <a:cs typeface="Merriweather"/>
                <a:sym typeface="Merriweather"/>
              </a:rPr>
              <a:t>Login</a:t>
            </a:r>
            <a:endParaRPr/>
          </a:p>
        </p:txBody>
      </p:sp>
      <p:pic>
        <p:nvPicPr>
          <p:cNvPr id="193" name="Google Shape;1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50" y="1892600"/>
            <a:ext cx="4454025" cy="254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7425" y="1883650"/>
            <a:ext cx="4483750" cy="254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kết quả kiểm thử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kết quả kiểm thử hệ thống</a:t>
            </a:r>
            <a:endParaRPr/>
          </a:p>
        </p:txBody>
      </p:sp>
      <p:graphicFrame>
        <p:nvGraphicFramePr>
          <p:cNvPr id="205" name="Google Shape;205;p35"/>
          <p:cNvGraphicFramePr/>
          <p:nvPr/>
        </p:nvGraphicFramePr>
        <p:xfrm>
          <a:off x="311700" y="1688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{275A067C-5438-40AD-ACCC-5EC9F96BC23F}</a:tableStyleId>
              </a:tblPr>
              <a:tblGrid>
                <a:gridCol w="828575"/>
                <a:gridCol w="1300775"/>
                <a:gridCol w="1924450"/>
                <a:gridCol w="1915525"/>
                <a:gridCol w="1942250"/>
                <a:gridCol w="64147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Case ID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Unit Under Test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Description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Data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Expected result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Result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WF_PUR_01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UT-014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End-to-end đặt hàng COD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Login, cart có item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Tạo order, insert cart, clear session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Passed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CUST_CK_06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UT-015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Ngăn tạo đơn trùng khi submit nhiều lần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Double submit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Chỉ tạo 1 đơn hàng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Passed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SEC_ORD_01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UT-015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Chặn truy cập đơn hàng người khác (IDOR)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order_id user khác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Access denied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Passed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SEC_ORD_02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UT-014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Ngăn sửa giá đơn hàng từ client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Tamper total price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Server dùng giá DB, không tin client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Passed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4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kết quả kiểm thử của Dữ liệu</a:t>
            </a:r>
            <a:endParaRPr/>
          </a:p>
        </p:txBody>
      </p:sp>
      <p:graphicFrame>
        <p:nvGraphicFramePr>
          <p:cNvPr id="211" name="Google Shape;211;p36"/>
          <p:cNvGraphicFramePr/>
          <p:nvPr/>
        </p:nvGraphicFramePr>
        <p:xfrm>
          <a:off x="520200" y="164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{A44E58E7-482B-4E44-99E1-BF364A4B6796}</a:tableStyleId>
              </a:tblPr>
              <a:tblGrid>
                <a:gridCol w="912425"/>
                <a:gridCol w="1090275"/>
                <a:gridCol w="1136675"/>
                <a:gridCol w="823525"/>
                <a:gridCol w="869900"/>
                <a:gridCol w="1322250"/>
                <a:gridCol w="974300"/>
                <a:gridCol w="974300"/>
              </a:tblGrid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Case ID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Objective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Preconditions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Steps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Data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Expected Output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Type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Result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DB_INT_01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Xóa user không làm mất order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User có order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Delete user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user_id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Order vẫn tồn tại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Integrity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DB_INT_02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Xóa product không phá order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Product đã bán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Delete product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product_id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Order history không lỗi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Integrity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DB_INT_03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Cart gắn order hợp lệ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Checkout xong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Query DB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N/A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cart.id_donhang hợp lệ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Integrity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DB_INT_04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Không orphan cart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Order fail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Simulate fail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N/A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Không có cart mồ côi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Integrity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kết quả kiểm thử phi chức năng bảo mật</a:t>
            </a:r>
            <a:endParaRPr/>
          </a:p>
        </p:txBody>
      </p:sp>
      <p:graphicFrame>
        <p:nvGraphicFramePr>
          <p:cNvPr id="217" name="Google Shape;217;p37"/>
          <p:cNvGraphicFramePr/>
          <p:nvPr/>
        </p:nvGraphicFramePr>
        <p:xfrm>
          <a:off x="311700" y="155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{A44E58E7-482B-4E44-99E1-BF364A4B6796}</a:tableStyleId>
              </a:tblPr>
              <a:tblGrid>
                <a:gridCol w="959350"/>
                <a:gridCol w="1391100"/>
                <a:gridCol w="1257825"/>
                <a:gridCol w="968600"/>
                <a:gridCol w="822050"/>
                <a:gridCol w="1562250"/>
                <a:gridCol w="792950"/>
                <a:gridCol w="766475"/>
              </a:tblGrid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Case ID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Objective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Preconditions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Steps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Data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Expected Output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Type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Result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SEC_SRCH_02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Reflected XSS search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N/A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Search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&lt;script&gt;alert(1)&lt;/script&gt;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Không execute script; phải escape output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Security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669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SEC_PROD_01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Stored XSS product desc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admin login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Add product desc chứa script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&lt;script&gt;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Script không chạy ở frontend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Security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SEC_PD_01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XSS trong mô tả sản phẩm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Product desc chứa script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Mở detail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&lt;script&gt;alert(1)&lt;/script&gt;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Script không được thực thi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Security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SEC_CAT_01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XSS category name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Admin login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Add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&lt;script&gt;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Không execute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Security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kết quả kiểm thử UX/UI</a:t>
            </a:r>
            <a:endParaRPr/>
          </a:p>
        </p:txBody>
      </p:sp>
      <p:graphicFrame>
        <p:nvGraphicFramePr>
          <p:cNvPr id="223" name="Google Shape;223;p38"/>
          <p:cNvGraphicFramePr/>
          <p:nvPr/>
        </p:nvGraphicFramePr>
        <p:xfrm>
          <a:off x="311700" y="157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{A44E58E7-482B-4E44-99E1-BF364A4B6796}</a:tableStyleId>
              </a:tblPr>
              <a:tblGrid>
                <a:gridCol w="1047300"/>
                <a:gridCol w="1175125"/>
                <a:gridCol w="1824825"/>
                <a:gridCol w="1313600"/>
                <a:gridCol w="1579875"/>
                <a:gridCol w="1579875"/>
              </a:tblGrid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Case ID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Module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Objective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Test Steps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Expected Result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Final Result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NF_UX_01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Authentication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Thông báo lỗi dễ hiểu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Login sai mật khẩu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Hiển thị message rõ ràng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NF_UX_02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Cart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Hiển thị tổng tiền rõ ràng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Thêm/xóa sản phẩm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Tổng tiền cập nhật dễ hiểu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NF_UX_03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Checkout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Kiểm tra validate form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Submit thiếu dữ liệu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Hiển thị lỗi tại field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317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NF_UX_04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Order History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Dễ theo dõi trạng thái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Xem lịch sử đơn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Trạng thái rõ ràng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NF_UX_05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Admin CRUD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Xác nhận hành động nguy hiểm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Xóa sản phẩm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Có confirm dialog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3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sz="13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63500" marB="63500" marR="63500" marL="63500">
                    <a:lnL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kết quả kiểm thử hộp đen</a:t>
            </a:r>
            <a:endParaRPr/>
          </a:p>
        </p:txBody>
      </p:sp>
      <p:graphicFrame>
        <p:nvGraphicFramePr>
          <p:cNvPr id="229" name="Google Shape;229;p39"/>
          <p:cNvGraphicFramePr/>
          <p:nvPr/>
        </p:nvGraphicFramePr>
        <p:xfrm>
          <a:off x="856825" y="195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{275A067C-5438-40AD-ACCC-5EC9F96BC23F}</a:tableStyleId>
              </a:tblPr>
              <a:tblGrid>
                <a:gridCol w="885825"/>
                <a:gridCol w="1276350"/>
                <a:gridCol w="590550"/>
                <a:gridCol w="590550"/>
                <a:gridCol w="709600"/>
                <a:gridCol w="590550"/>
                <a:gridCol w="2081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No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Module code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Fail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Untested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N/A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Number of test cases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Authentication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14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14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Product &amp; Category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15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16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Shopping Cart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8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9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Checkout &amp; Order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Subtotal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43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45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344800" y="24957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kết quả kiểm thử hộp trắng tích hợp </a:t>
            </a:r>
            <a:r>
              <a:rPr lang="vi"/>
              <a:t>kiểm thử đơn vị </a:t>
            </a:r>
            <a:r>
              <a:rPr lang="vi"/>
              <a:t>CI/CD </a:t>
            </a:r>
            <a:r>
              <a:rPr lang="vi"/>
              <a:t>trên </a:t>
            </a:r>
            <a:r>
              <a:rPr lang="vi"/>
              <a:t>Github </a:t>
            </a:r>
            <a:endParaRPr/>
          </a:p>
        </p:txBody>
      </p:sp>
      <p:pic>
        <p:nvPicPr>
          <p:cNvPr id="235" name="Google Shape;23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275" y="1746650"/>
            <a:ext cx="34290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2825" y="1746650"/>
            <a:ext cx="4422813" cy="29718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kết quả kiểm thử nghiệp vụ Workflow</a:t>
            </a:r>
            <a:endParaRPr/>
          </a:p>
        </p:txBody>
      </p:sp>
      <p:graphicFrame>
        <p:nvGraphicFramePr>
          <p:cNvPr id="242" name="Google Shape;242;p41"/>
          <p:cNvGraphicFramePr/>
          <p:nvPr/>
        </p:nvGraphicFramePr>
        <p:xfrm>
          <a:off x="856825" y="195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{275A067C-5438-40AD-ACCC-5EC9F96BC23F}</a:tableStyleId>
              </a:tblPr>
              <a:tblGrid>
                <a:gridCol w="885825"/>
                <a:gridCol w="1276350"/>
                <a:gridCol w="590550"/>
                <a:gridCol w="590550"/>
                <a:gridCol w="709600"/>
                <a:gridCol w="590550"/>
                <a:gridCol w="20812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No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Flow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Pass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Fail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Untested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N/A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Number of flow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Product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25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25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Add to Cart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18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19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Cart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17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18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Checkout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19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Login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16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16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Subtotal</a:t>
                      </a:r>
                      <a:endParaRPr b="1"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95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CB9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0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0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98</a:t>
                      </a:r>
                      <a:endParaRPr sz="10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/>
              <a:t>Báo cáo kết quả kiểm thử những Defect cần fix</a:t>
            </a:r>
            <a:endParaRPr/>
          </a:p>
        </p:txBody>
      </p:sp>
      <p:graphicFrame>
        <p:nvGraphicFramePr>
          <p:cNvPr id="248" name="Google Shape;248;p42"/>
          <p:cNvGraphicFramePr/>
          <p:nvPr/>
        </p:nvGraphicFramePr>
        <p:xfrm>
          <a:off x="311713" y="198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{275A067C-5438-40AD-ACCC-5EC9F96BC23F}</a:tableStyleId>
              </a:tblPr>
              <a:tblGrid>
                <a:gridCol w="2928950"/>
                <a:gridCol w="2928950"/>
                <a:gridCol w="2662675"/>
              </a:tblGrid>
              <a:tr h="247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1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Defect Description &amp; Steps to reproduce</a:t>
                      </a:r>
                      <a:endParaRPr sz="1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1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Actual Result</a:t>
                      </a:r>
                      <a:endParaRPr sz="1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vi" sz="11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Expected Result</a:t>
                      </a:r>
                      <a:endParaRPr sz="1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vi" sz="11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Pre-condition:</a:t>
                      </a:r>
                      <a:endParaRPr i="1" sz="1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vi" sz="11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- Giỏ hàng không có sản phẩm.</a:t>
                      </a:r>
                      <a:endParaRPr i="1" sz="1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vi" sz="11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Steps:</a:t>
                      </a:r>
                      <a:endParaRPr i="1" sz="1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vi" sz="11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1. Truy cập trang Giỏ hàng.</a:t>
                      </a:r>
                      <a:endParaRPr i="1" sz="1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vi" sz="110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2. Nhấn nút "Tiếp tục thanh toán".</a:t>
                      </a:r>
                      <a:endParaRPr i="1" sz="110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vi" sz="1100">
                          <a:highlight>
                            <a:srgbClr val="EA9999"/>
                          </a:highlight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Trang Checkout vẫn được hiển thị mặc dù không có sản phẩm trong giỏ hàng.</a:t>
                      </a:r>
                      <a:endParaRPr i="1" sz="1100">
                        <a:highlight>
                          <a:srgbClr val="EA9999"/>
                        </a:highlight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vi" sz="1100">
                          <a:highlight>
                            <a:srgbClr val="CCFFCC"/>
                          </a:highlight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Hệ thống KHÔNG ĐƯỢC hiển thị trang Checkout</a:t>
                      </a:r>
                      <a:endParaRPr i="1" sz="1100">
                        <a:highlight>
                          <a:srgbClr val="CCFFCC"/>
                        </a:highlight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vi" sz="1100">
                          <a:highlight>
                            <a:srgbClr val="CCFFCC"/>
                          </a:highlight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khi giỏ hàng trống và PHẢI hiển thị thông báo "Giỏ hàng trống, không thể thanh toán".</a:t>
                      </a:r>
                      <a:endParaRPr i="1" sz="1100">
                        <a:highlight>
                          <a:srgbClr val="CCFFCC"/>
                        </a:highlight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T="91425" marB="91425" marR="28575" marL="28575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3"/>
          <p:cNvSpPr txBox="1"/>
          <p:nvPr/>
        </p:nvSpPr>
        <p:spPr>
          <a:xfrm>
            <a:off x="2411400" y="2263950"/>
            <a:ext cx="432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vi" sz="2800">
                <a:solidFill>
                  <a:srgbClr val="D5A6BD"/>
                </a:solidFill>
                <a:latin typeface="Merriweather"/>
                <a:ea typeface="Merriweather"/>
                <a:cs typeface="Merriweather"/>
                <a:sym typeface="Merriweather"/>
              </a:rPr>
              <a:t>thanks you for lissining</a:t>
            </a:r>
            <a:endParaRPr sz="2800">
              <a:solidFill>
                <a:srgbClr val="D5A6B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